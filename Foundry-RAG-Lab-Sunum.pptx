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3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687C8C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687C8C"/>
                </a:solidFill>
                <a:latin typeface="Calibri"/>
              </a:rPr>
              <a:t>nDCG@5 (yüksek olan iyi)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Üretilmiş sorular</c:v>
                </c:pt>
              </c:strCache>
            </c:strRef>
          </c:tx>
          <c:spPr>
            <a:solidFill>
              <a:srgbClr val="1329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baseline
dense</c:v>
                  </c:pt>
                  <c:pt idx="1">
                    <c:v>lexical
only</c:v>
                  </c:pt>
                  <c:pt idx="2">
                    <c:v>rrf</c:v>
                  </c:pt>
                  <c:pt idx="3">
                    <c:v>weighted
0,5</c:v>
                  </c:pt>
                  <c:pt idx="4">
                    <c:v>weighted
0,7</c:v>
                  </c:pt>
                  <c:pt idx="5">
                    <c:v>rrf
mmr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0.5796</c:v>
                </c:pt>
                <c:pt idx="1">
                  <c:v>0.704</c:v>
                </c:pt>
                <c:pt idx="2">
                  <c:v>0.6817</c:v>
                </c:pt>
                <c:pt idx="3">
                  <c:v>0.737</c:v>
                </c:pt>
                <c:pt idx="4">
                  <c:v>0.7001</c:v>
                </c:pt>
                <c:pt idx="5">
                  <c:v>0.5481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Parafrazlanmış</c:v>
                </c:pt>
              </c:strCache>
            </c:strRef>
          </c:tx>
          <c:spPr>
            <a:solidFill>
              <a:srgbClr val="D982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baseline
dense</c:v>
                  </c:pt>
                  <c:pt idx="1">
                    <c:v>lexical
only</c:v>
                  </c:pt>
                  <c:pt idx="2">
                    <c:v>rrf</c:v>
                  </c:pt>
                  <c:pt idx="3">
                    <c:v>weighted
0,5</c:v>
                  </c:pt>
                  <c:pt idx="4">
                    <c:v>weighted
0,7</c:v>
                  </c:pt>
                  <c:pt idx="5">
                    <c:v>rrf
mmr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0.5158</c:v>
                </c:pt>
                <c:pt idx="1">
                  <c:v>0.5577</c:v>
                </c:pt>
                <c:pt idx="2">
                  <c:v>0.613</c:v>
                </c:pt>
                <c:pt idx="3">
                  <c:v>0.6295</c:v>
                </c:pt>
                <c:pt idx="4">
                  <c:v>0.5915</c:v>
                </c:pt>
                <c:pt idx="5">
                  <c:v>0.4915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87C8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1270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87C8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87C8C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Doğru reddetme (3 üzerinden)</c:v>
                </c:pt>
              </c:strCache>
            </c:strRef>
          </c:tx>
          <c:spPr>
            <a:solidFill>
              <a:srgbClr val="D982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3293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982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3CBD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3CBD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3CBD3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1200 kr</c:v>
                  </c:pt>
                  <c:pt idx="1">
                    <c:v>2400 kr</c:v>
                  </c:pt>
                  <c:pt idx="2">
                    <c:v>4000 kr</c:v>
                  </c:pt>
                  <c:pt idx="3">
                    <c:v>6000 kr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3293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87C8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</c:scaling>
        <c:delete val="0"/>
        <c:axPos val="l"/>
        <c:majorGridlines>
          <c:spPr>
            <a:ln w="1270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87C8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</c:v>
                </c:pt>
              </c:strCache>
            </c:strRef>
          </c:tx>
          <c:spPr>
            <a:solidFill>
              <a:srgbClr val="3B7A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3293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7A5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3CBD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33A3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Ham BM25</c:v>
                  </c:pt>
                  <c:pt idx="1">
                    <c:v>Ham kosinüs</c:v>
                  </c:pt>
                  <c:pt idx="2">
                    <c:v>Füzyon skoru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0.843</c:v>
                </c:pt>
                <c:pt idx="1">
                  <c:v>0.792</c:v>
                </c:pt>
                <c:pt idx="2">
                  <c:v>0.727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3293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87C8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b"/>
        <c:majorGridlines>
          <c:spPr>
            <a:ln w="1270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87C8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Merhaba, ben Furkan. Staj konum 'Foundry Local ile ilk yerel RAG uygulamanı yap' idi. Bugün hem sistemi hem de o sistemi kurarken yaptığım ölçümleri anlatacağım. Baştan söyleyeyim: şu an makinemde wifi kapalı, sistem tamamen offline çalışıyor.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Planı hızlı geç. En çok zamanı 5. bölüme ayıracağımı söyle.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hikâyeyi kendi ağzınla anlat, slayttan okuma. Ana mesaj: ilk hatam modeli suçlamak oldu, asıl sorun veriyle sorgunun kelime dağarcığı farkıydı.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Dördünü tek tek okuma, ikisini seç. lower() örneği en çarpıcısı, çünkü kimse beklemez. IDF örneği hibrit mimariyi gerekçelendiriyor. Sorulursa: IDF sıfır değil, ama "öğrenci" gibi kalıp sözcükler "burs" gibi konu sözcüklerinin dörtte biri kadar ağırlık taşıyor, yani sorgu kalıp sözcüklerden oluşuyorsa BM25 ayırt edemiyor.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Şemayı soru üzerinden anlat. Ölçek farkı cümlesini mutlaka söyle, hoca oradan soru sorabilir. Sağdaki kutu veri mahremiyeti argümanı.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Donanımı söylemek önemli: gecikme sayıları donanım bilinmeden anlamsız. Eval setinin korpustan üretilmesi hem avantaj hem risk, riski 9. slaytta anlatacağım.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slayt projeyi bir ödevden ayıran şey. 'Yarım saatte bir sayı üretmek kolay, o sayıya güvenip güvenemeyeceğini bilmek zor' diyebilirsin.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Burada acele etme. Bunu anlatmak riskli görünüyor ama tam tersi: kendi ölçümünü eleştirebilmek en güçlü kısım. 'İki gün sürdü' demek de dürüst ve insani.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Parafraz ilk denemede işe yaramadı: 60 sorunun 42'sini model aynen geri verdi. Prompt'a örnek ekleyince 2'ye düştü. Bunu anlatırsan iterasyon yaptığın görülür.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RRF'i savunmayı unutma: teorik üstünlüğü hâlâ geçerli, çünkü aday derinliğine bağlı değil. Bu korpusta karşılığını vermedi, o kadar.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İki varyantta aynı büyüklükte çıkması önemli: bir bulgunun tekrarlanması, tek bir p değerinden daha güçlü. Planlı/keşifsel ayrımını mutlaka söyle.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slayt 8. slayttaki dürüstlük anlatısının karşılığı. İkisini bağla.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Sınırı kendin söyle: n=5 az. Ama 15. slaytta bağımsız bir deney aynı sınırı gösterecek, orada bu bulgu güçleniyor.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Kör nokta cümlesi bu sunumun en öğretici anı olabilir. Ürün kararı ayrımını da vurgula: her karar teknik değil.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sevdiğim bulgu. Üç adım: sayı kötü çıktı, kodu okudum, nedenini buldum. Normalizasyonu tahtaya çizerek anlatabilirsin.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Mesaj: negatif sonuç da sonuçtur. Bir özelliği yazıp ölçmeden açık bırakmak, projenin kendi tezine aykırı olurdu.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SIRASI: (1) burs başvurusu için gereken not ortalaması nedir — normal çalışma, tabloyu göster. (2) yemekhanede bugün ne var — reddetmeli, skoru göster. (3) vaktin varsa kayıt dondurma. Kenar çubuğundaki model seçicisine DOKUNMA, yeni model yüklemesi dakikalar sürer.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slaytı atlama. Hoca zaten arayacak; senin söylemen çok daha iyi görünür. Sorulursa: 'insan yazımı bir eval seti bir sonraki adım' 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Kapanışta 'ölçülmeyen karar bir varsayımdır' cümlesine geri dön.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Sık gelen sorular ve cevapları docs/08-sunum-anlatimi.md içinde. En olası üçü: neden bulut değil, neden RRF değil, halüsinasyonu nasıl engelliyorsun.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51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Boğaziçi Üniversitesi · Bilgisayar Mühendisliği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85800" y="1600200"/>
            <a:ext cx="9601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Foundry Local ile</a:t>
            </a:r>
            <a:endParaRPr lang="en-US" sz="38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Yerel RAG Uygulaması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85800" y="31546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Türkçe yönetmelik korpusunda hibrit erişim ve ölçüme dayalı tasarım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3886200"/>
            <a:ext cx="2926080" cy="0"/>
          </a:xfrm>
          <a:prstGeom prst="line">
            <a:avLst/>
          </a:prstGeom>
          <a:noFill/>
          <a:ln w="25400">
            <a:solidFill>
              <a:srgbClr val="1F3E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41605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Furkan Ahi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85800" y="455371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furkan.ahi@std.bogazici.edu.tr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4956048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Yapay Zekâ Stajı, proje sunumu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Ağustos 2026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56692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85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github.com/Furkanahii/foundry-rag-lab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842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8580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İçindekiler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85800" y="502920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Sunum planı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" y="16002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8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88720" y="16002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88720" y="1911096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Türkçe yönetmelik korpusunda neyin çalışmadığı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25603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8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188720" y="256032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88720" y="2871216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Hibrit erişim mimarisi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5800" y="35204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8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188720" y="35204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Deneysel kurulum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188720" y="3831336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Korpus, modeller, değerlendirme seti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44805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8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188720" y="44805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Yöntem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188720" y="4791456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Neden istatistiksel test gerekiyor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63640" y="16002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8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766560" y="16002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Bulgular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766560" y="1911096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Yedi ölçüm, ikisi sezginin tersi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263640" y="25603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8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766560" y="256032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766560" y="2871216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Canlı sistem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63640" y="35204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8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766560" y="35204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Sınırlar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766560" y="3831336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Neyi ölçemedim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63640" y="44805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8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6766560" y="44805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Sonuç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766560" y="4791456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öğrendim, sırada ne var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842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8580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Problem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85800" y="502920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Verilen plan ve karşılaştığım durum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" y="11887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 planı sekiz cümlelik bir örnek üzerinde tarif ediliyordu. Ben gerçek bir korpusla denedim.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1783080"/>
            <a:ext cx="5257800" cy="3017520"/>
          </a:xfrm>
          <a:prstGeom prst="roundRect">
            <a:avLst>
              <a:gd name="adj" fmla="val 1818"/>
            </a:avLst>
          </a:prstGeom>
          <a:solidFill>
            <a:srgbClr val="F1F4F7"/>
          </a:solidFill>
          <a:ln w="12700">
            <a:solidFill>
              <a:srgbClr val="D5DD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96596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Planın önerdiği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2331720"/>
            <a:ext cx="4709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Metni sabit boyutta parçala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Göm, SQLite'a JSON olarak yaz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Python'da tek tek kosinüs hesapla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iyi 2 parçayı modele ver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" y="416052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i="1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Sekiz cümlelik örnekte gerçekten çalışıyor.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09360" y="1783080"/>
            <a:ext cx="5166360" cy="3017520"/>
          </a:xfrm>
          <a:prstGeom prst="roundRect">
            <a:avLst>
              <a:gd name="adj" fmla="val 1818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96596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İlk denemede olan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83680" y="233172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B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Sisteme sorduğum ilk soru "kayıt dondurma nasıl yapılır" oldu. Alakasız maddeler getirdi. Modeli suçlamadan önce korpusta arama yaptım: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83680" y="329184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"kayıt dondurma" korpusta hiç geçmiyor.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83680" y="374904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B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Yönetmelik bu duruma "izinli sayılma" diyor. Yani sorun erişim kodunda değil, benim kelimemle belgenin kelimesinin tutmamasındaydı.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842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8580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Problem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85800" y="502920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Türkçe'ye özgü dört sorun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" y="11887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Hepsini korpus üzerinde ölçtüm, hiçbiri literatürden alınmadı.</a:t>
            </a:r>
            <a:endParaRPr lang="en-US" sz="13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83080"/>
          <a:ext cx="10789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  <a:gridCol w="2560320"/>
              </a:tblGrid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Sorun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Ölçüm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 yaptım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Python'ın lower() fonksiyonu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"IŞIK".lower() sonucu "işik" veriyor. Unicode varsayılanı İngilizce olduğu için noktalı ve noktasız i ayrımı bozuluyor.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Dile özgü normalizasyon yazdım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Yönetmelik kalıp sözcükleri ayırt etmiyor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BM25 indeksi 347 chunk üzerinde. "öğrenci" 245 chunk'ta geçiyor, IDF = 0,35; "burs" 24 chunk'ta, IDF = 2,67. Kalıp sözcükler konu sözcüklerinden 4–8 kat az ağırlık taşıyor.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 başına BM25 yetersiz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Çekim ekleri eşleşmiyor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"kayıtların" ile "kayıt" BM25 için iki ayrı kelime. Türkçe eklemeli bir dil.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Gövdeleme (ek soyma) ekledim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Kısa metinde gömme bozuluyor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Birbiriyle alakasız iki kısa cümle 0,62 kosinüs benzerliği verebiliyor.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Chunk'lara alt sınır koydum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85800" y="5943600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Ölçümler: ingest/normalize.py ve index/store.py üzerinde, 347 chunk'lık indeks üzerinde yapıldı.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842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8580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Sistem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85800" y="502920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Bir soru sisteme girdiğinde ne oluyor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85800" y="1600200"/>
            <a:ext cx="2011680" cy="1554480"/>
          </a:xfrm>
          <a:prstGeom prst="roundRect">
            <a:avLst>
              <a:gd name="adj" fmla="val 3529"/>
            </a:avLst>
          </a:prstGeom>
          <a:solidFill>
            <a:srgbClr val="F1F4F7"/>
          </a:solidFill>
          <a:ln w="12700">
            <a:solidFill>
              <a:srgbClr val="D5DDE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" y="1783080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Normalizasyon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50392" y="2240280"/>
            <a:ext cx="16824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Türkçe küçük harf, NFC, gövdeleme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697480" y="214884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5D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926080" y="1600200"/>
            <a:ext cx="2011680" cy="1554480"/>
          </a:xfrm>
          <a:prstGeom prst="roundRect">
            <a:avLst>
              <a:gd name="adj" fmla="val 3529"/>
            </a:avLst>
          </a:prstGeom>
          <a:solidFill>
            <a:srgbClr val="F1F4F7"/>
          </a:solidFill>
          <a:ln w="12700">
            <a:solidFill>
              <a:srgbClr val="D5DDE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90672" y="1783080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kol paralel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090672" y="2240280"/>
            <a:ext cx="16824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Yoğun arama + BM25, 30'ar aday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937760" y="214884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5D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166360" y="1600200"/>
            <a:ext cx="2011680" cy="1554480"/>
          </a:xfrm>
          <a:prstGeom prst="roundRect">
            <a:avLst>
              <a:gd name="adj" fmla="val 3529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30952" y="1783080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Füzyon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330952" y="2240280"/>
            <a:ext cx="16824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Ağırlıklı, alpha = 0,5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178040" y="214884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5D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406640" y="1600200"/>
            <a:ext cx="2011680" cy="1554480"/>
          </a:xfrm>
          <a:prstGeom prst="roundRect">
            <a:avLst>
              <a:gd name="adj" fmla="val 3529"/>
            </a:avLst>
          </a:prstGeom>
          <a:solidFill>
            <a:srgbClr val="F1F4F7"/>
          </a:solidFill>
          <a:ln w="12700">
            <a:solidFill>
              <a:srgbClr val="D5DD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71232" y="1783080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İlk 5 pasaj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571232" y="2240280"/>
            <a:ext cx="16824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Bağlam bütçesi 1600 karakter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9418320" y="214884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5D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9646920" y="1600200"/>
            <a:ext cx="2011680" cy="1554480"/>
          </a:xfrm>
          <a:prstGeom prst="roundRect">
            <a:avLst>
              <a:gd name="adj" fmla="val 3529"/>
            </a:avLst>
          </a:prstGeom>
          <a:solidFill>
            <a:srgbClr val="F1F4F7"/>
          </a:solidFill>
          <a:ln w="12700">
            <a:solidFill>
              <a:srgbClr val="D5DDE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811512" y="1783080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 veya ret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811512" y="2240280"/>
            <a:ext cx="16824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Eşik altındaysa model çağrılmıyor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85800" y="352044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Neden skorları doğrudan toplayamıyoruz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85800" y="3931920"/>
            <a:ext cx="6766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 skoru sınırsız bir sayı (bu korpusta 2,4 ile 47,8 arası), kosinüs benzerliği ise −1 ile 1 arasında. İkisini toplamak farklı birimleri toplamak olurdu. İki çözüm denedim: RRF sıraları birleştiriyor, ağırlıklı füzyon skorları aynı ölçeğe çekiyor. Hangisinin daha iyi olduğunu tahmin etmek yerine ölçtüm (bulgular bölümünde).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772400" y="3520440"/>
            <a:ext cx="3703320" cy="1783080"/>
          </a:xfrm>
          <a:prstGeom prst="roundRect">
            <a:avLst>
              <a:gd name="adj" fmla="val 3077"/>
            </a:avLst>
          </a:prstGeom>
          <a:solidFill>
            <a:srgbClr val="F1F4F7"/>
          </a:solidFill>
          <a:ln w="12700">
            <a:solidFill>
              <a:srgbClr val="D5DDE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46720" y="37033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 dosya, tek bağımlılık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046720" y="4041648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İndeks tek bir SQLite dosyası: yoğun vektörler ve BM25 aynı .db içinde. Sunucu, Docker veya bulut hesabı yok. Öğrenci verisi kurumdan çıkmıyor.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842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8580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Deneysel kurulum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85800" y="502920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Deneysel kurulum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" y="11887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Bütün ölçümler aynı makinede, aynı indeks üzerinde yapıldı.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17830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Korpus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2112264"/>
            <a:ext cx="5120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Boğaziçi'nin kamuya açık 9 yönetmeliği</a:t>
            </a:r>
            <a:endParaRPr lang="en-US" sz="1250" dirty="0"/>
          </a:p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214.961 karakter, 347 chunk</a:t>
            </a:r>
            <a:endParaRPr lang="en-US" sz="1250" dirty="0"/>
          </a:p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belge Türkçe, 1 belge İngilizce</a:t>
            </a:r>
            <a:endParaRPr lang="en-US" sz="1250" dirty="0"/>
          </a:p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İndeks 4,63 MB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263640" y="17830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263640" y="2112264"/>
            <a:ext cx="5120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Gömme: qwen3-embedding-0.6b (1024 boyut)</a:t>
            </a:r>
            <a:endParaRPr lang="en-US" sz="1250" dirty="0"/>
          </a:p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Üretim: phi-3.5-mini</a:t>
            </a:r>
            <a:endParaRPr lang="en-US" sz="1250" dirty="0"/>
          </a:p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 üretimi: qwen2.5-7b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85800" y="35661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Donanım ve çalışma zamanı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3895344"/>
            <a:ext cx="5120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M2, WebGPU</a:t>
            </a:r>
            <a:endParaRPr lang="en-US" sz="1250" dirty="0"/>
          </a:p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Local SDK 1.2.4 (arm64)</a:t>
            </a:r>
            <a:endParaRPr lang="en-US" sz="1250" dirty="0"/>
          </a:p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3.12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263640" y="35661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Değerlendirme seti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263640" y="3895344"/>
            <a:ext cx="5120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üretilmiş soru</a:t>
            </a:r>
            <a:endParaRPr lang="en-US" sz="1250" dirty="0"/>
          </a:p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parafraz (aynı gold pasaj)</a:t>
            </a:r>
            <a:endParaRPr lang="en-US" sz="1250" dirty="0"/>
          </a:p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cevaplanamaz soru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85800" y="5349240"/>
            <a:ext cx="10789920" cy="777240"/>
          </a:xfrm>
          <a:prstGeom prst="roundRect">
            <a:avLst>
              <a:gd name="adj" fmla="val 7059"/>
            </a:avLst>
          </a:prstGeom>
          <a:solidFill>
            <a:srgbClr val="F1F4F7"/>
          </a:solidFill>
          <a:ln w="12700">
            <a:solidFill>
              <a:srgbClr val="D5DDE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55321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Değerlendirme seti korpustan üretildi, elle etiketlenmedi. Böylece hangi pasajın doğru cevap olduğu tam olarak biliniyor: soruyu o pasajdan ürettim.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842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8580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Yöntem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85800" y="502920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İki sayıyı karşılaştırmak neden yeterli değil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" y="11887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konfigürasyon 0,71, diğeri 0,74 veriyor. Çoğu yazı burada "ikincisi daha iyi" der.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182880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8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" y="18288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güven aralığı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69848" y="2157984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sayı ne kadar kesin? Sorguları yerine koyarak yeniden örnekliyorum, ortalamanın dağılımını doğrudan okuyorum. Normallik varsaymıyor, ki metriklerimiz normal dağılmıyor.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263640" y="182880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8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647688" y="18288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Eşleştirilmiş permütasyon testi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647688" y="2157984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Fark gerçek mi? İki konfigürasyon aynı sorularda koşuyor, bu eşleştirilmiş bir tasarım. Soru zorluğunu karşılaştırmadan çıkarıyor.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85800" y="35204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8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69848" y="35204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Holm-Bonferroni düzeltmesi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69848" y="3849624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konfigürasyon karşılaştırıp en iyi p değerini raporlamak, %40 ihtimalle yanlış bir keşif ilan etmek demek. Düzeltme bunu engelliyor.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63640" y="35204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8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647688" y="35204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Güç analizi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647688" y="3849624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set farkı görebilir miydi? Orta büyüklükte bir etki için 32 soru gerekiyor. Anlamsız çıkan sonuç "fark yok" değil, "bu set ayıramadı" demek.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" y="5943600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evaluation/stats.py — 10.000 yeniden örnekleme, sabit tohum, sonuçlar data/results/ altında saklanıyor.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842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F85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8580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85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Yöntem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85800" y="502920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İlk ölçüm koşumu çöpe attım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" y="11887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Silmedim, arşivledim ve nedenini yazdım. İki bağımsız kusur vardı.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1828800"/>
            <a:ext cx="5257800" cy="3108960"/>
          </a:xfrm>
          <a:prstGeom prst="roundRect">
            <a:avLst>
              <a:gd name="adj" fmla="val 1765"/>
            </a:avLst>
          </a:prstGeom>
          <a:solidFill>
            <a:srgbClr val="1F3E5A"/>
          </a:solidFill>
          <a:ln w="12700">
            <a:solidFill>
              <a:srgbClr val="1F3E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01168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99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Yetersiz örneklem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233172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 = 15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960120" y="301752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B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soru istemiştim, 15 elde etmiştim. Kod otuz chunk örnekliyor, elenenlerden sonra kalanı döndürüyordu ve bu farkı hiçbir yerde uyarmıyordu.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B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Orta büyüklükte bir etkiyi görmek için 32 soru gerekiyor. Nitekim on karşılaştırmanın hiçbiri düzeltmeden geçemedi.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09360" y="1828800"/>
            <a:ext cx="5166360" cy="3108960"/>
          </a:xfrm>
          <a:prstGeom prst="roundRect">
            <a:avLst>
              <a:gd name="adj" fmla="val 1765"/>
            </a:avLst>
          </a:prstGeom>
          <a:solidFill>
            <a:srgbClr val="1F3E5A"/>
          </a:solidFill>
          <a:ln w="12700">
            <a:solidFill>
              <a:srgbClr val="1F3E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201168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99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Sorular belgelerin kopyasıydı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83680" y="2331720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0,86  vs  0,58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583680" y="3017520"/>
            <a:ext cx="4617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B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Soruları chunk'lardan üretince chunk'ın kelimelerini taşıyorlar. BM25 tam olarak bu örtüşmeyi puanlıyor.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B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Yani tablo "Türkçe'de BM25 daha iyi" demiyordu; "sorularımı belgelerden kopyalamışım" diyordu. Bunu fark etmem iki gün sürdü.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85800" y="5943600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8F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Arşiv ve gerekçe: data/results/archive-n15-invalid/NOTE.md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842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8580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Yöntem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85800" y="502920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Geçerli hale getirmek için üç değişiklik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" y="169164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43000" y="169164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Hedef, üretilen soru değil kullanılabilir soru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143000" y="2020824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Elenen her soru için havuzdan yenisi çekiliyor. Sonuç: varyant başına 60 soru, orta büyüklükte etkiler için yeterli güç.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85800" y="283464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43000" y="283464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Kelime örtüşmesi artık ölçülüyor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143000" y="3163824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soru için gold pasajla örtüşme, BM25 kolunun kullandığı aynı gövdelemeyle hesaplanıyor. Yani sinyalin vekili değil, kendisi.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85800" y="397764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43000" y="397764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sorunun bir de parafrazı var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43000" y="4306824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Aynı soruyu günlük dile çevirdim. İki set aynı pasajı hedeflediği için eşleştirilmiş test yapılabiliyor. Aradaki düşüş, puanın ne kadarının kelime eşleşmesinden geldiğini söylüyor.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85800" y="5212080"/>
            <a:ext cx="3383280" cy="91440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 w="12700">
            <a:solidFill>
              <a:srgbClr val="D5DDE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532180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0,448 → 0,369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14400" y="57424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Kelime örtüşmesi düştü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297680" y="5212080"/>
            <a:ext cx="3383280" cy="91440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 w="12700">
            <a:solidFill>
              <a:srgbClr val="D5DD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26280" y="532180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/ 60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526280" y="57424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Kopya kalan parafraz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909560" y="5212080"/>
            <a:ext cx="3383280" cy="914400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 w="12700">
            <a:solidFill>
              <a:srgbClr val="D5DDE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38160" y="532180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 = 60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138160" y="57424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Varyant başına soru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842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8580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Bulgular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85800" y="502920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Bulgu 1: Ağırlıklı füzyon, düzeltmeden geçen tek kazanç</a:t>
            </a:r>
            <a:endParaRPr lang="en-US" sz="3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85800" y="1371600"/>
          <a:ext cx="731520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275320" y="1463040"/>
            <a:ext cx="3200400" cy="2103120"/>
          </a:xfrm>
          <a:prstGeom prst="roundRect">
            <a:avLst>
              <a:gd name="adj" fmla="val 2609"/>
            </a:avLst>
          </a:prstGeom>
          <a:solidFill>
            <a:srgbClr val="F1F4F7"/>
          </a:solidFill>
          <a:ln w="12700">
            <a:solidFill>
              <a:srgbClr val="D5DDE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503920" y="16276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weighted-0,5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503920" y="19202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B7A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+0,157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8503920" y="2395728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0,0006 (üretilmiş)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0,0002 (parafraz)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iki kelime varyantında da Holm düzeltmesinden geçen tek konfigürasyon.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275320" y="3703320"/>
            <a:ext cx="3200400" cy="1463040"/>
          </a:xfrm>
          <a:prstGeom prst="roundRect">
            <a:avLst>
              <a:gd name="adj" fmla="val 3750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03920" y="38587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RRF geçemedi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503920" y="41605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B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Literatürün önerdiği yöntem ve benim varsayılanımdı. Ölçüm sonucunda projenin varsayılanını değiştirdim.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85800" y="5943600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10.000 yeniden örneklemeli eşleştirilmiş permütasyon testi, 10 karşılaştırma için Holm düzeltmesi.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842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8580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Bulgular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85800" y="502920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Bulgu 2: En büyük etki Türkçe gövdeleme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" y="11887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Taramadan önce kurduğum bir hipotezdi, sonradan bulunmuş bir sonuç değil.</a:t>
            </a:r>
            <a:endParaRPr lang="en-US" sz="13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28800"/>
          <a:ext cx="1078992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011680"/>
                <a:gridCol w="1554480"/>
                <a:gridCol w="1554480"/>
                <a:gridCol w="14630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Varyant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Cohen's 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Gövdeleme, BM25 kolunda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B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üretilmiş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B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+0,213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B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B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BD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Gövdeleme, BM25 kolunda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B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parafraz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B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+0,222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B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B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BD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Hibrit füzyon, yoğun aramaya karşı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üretilmiş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+0,102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Hibrit füzyon, yoğun aramaya karşı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parafraz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+0,097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85800" y="393192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Planlı karşılaştırma ne demek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685800" y="429768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Holm düzeltmesi, konfigürasyonlar arasında arama yapmayı cezalandırıyor. Gövdeleme karşılaştırması bir arama değil: taramadan önce yazdığım, tek bir mekanizmayı yalıtan bir hipotez. Bunu açıkça belirtmek gerekiyor, çünkü sonradan bulunmuş bir karşılaştırmayı planlanmış gibi sunmak taramayı keşfe dönüştürmenin yolu.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85800" y="5943600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Gövdeleme sezgisel bir ek soyucu, morfolojik analizci değil: çekim eklerinde çalışıyor, türetim eklerinde çalışmıyor.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842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8580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Bulgular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85800" y="502920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Bulgu 3: Eski sonucum bir kurgu artefaktıymış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" y="11887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Soruyu yeniden yazdığımda hangi yöntemin çöktüğü, puanının nereden geldiğini söylüyor.</a:t>
            </a:r>
            <a:endParaRPr lang="en-US" sz="13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74520"/>
          <a:ext cx="1078992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554480"/>
                <a:gridCol w="1554480"/>
                <a:gridCol w="1371600"/>
                <a:gridCol w="1371600"/>
                <a:gridCol w="24688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Konfigürasyon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Üretilmiş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Parafraz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Düşüş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Sonuç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lexical-nostem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B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B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B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−0,155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B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B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Anlamlı düşüş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BD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lexical-only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B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0,7040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B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0,5577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B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−0,146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B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B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Anlamlı düşüş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BD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weighted-0,5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−0,108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Holm'a takıldı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rrf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0,6817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−0,069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Anlamsız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baseline-dense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0,5796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−0,064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0,1121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Anlamsız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4434840"/>
            <a:ext cx="10789920" cy="1325880"/>
          </a:xfrm>
          <a:prstGeom prst="roundRect">
            <a:avLst>
              <a:gd name="adj" fmla="val 4138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4599432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Sadece BM25 kolları anlamlı biçimde çöküyor.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60120" y="498348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B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Geçersiz koşuda sözlüksel arama 0,86 ile yoğun aramanın 0,58'ini eziyor görünüyordu. Şimdi üretilmiş sette p = 0,065 ile anlamsız, parafraz sette p = 0,47 ile tamamen yok. Bunu görebilmemin tek nedeni iki seti ayrı ayrı koşmam.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842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8580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Bulgular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85800" y="502920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Bulgu 4: Daha çok bağlam, daha kötü cevap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" y="11887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"Daha çok bağlam daha iyi cevap" diye varsaymıştım. Ölçüm tersini söyledi.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85800" y="1783080"/>
          <a:ext cx="55778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685800" y="484632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Bağlam büyüdükçe model bilmediğini söylemeyi bırakıyor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6675120" y="1783080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Neden böyle oluyor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675120" y="2194560"/>
            <a:ext cx="4800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kuralları ("sadece verilen pasajlardan cevapla, bilmiyorsan bilmiyorum de") sistem mesajının başında duruyor. Arkasından gelen her token'la seyreliyor. Küçük bir modelde bağlam bir kaynak değil, maliyet.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675120" y="3566160"/>
            <a:ext cx="4800600" cy="1600200"/>
          </a:xfrm>
          <a:prstGeom prst="roundRect">
            <a:avLst>
              <a:gd name="adj" fmla="val 3429"/>
            </a:avLst>
          </a:prstGeom>
          <a:solidFill>
            <a:srgbClr val="F1F4F7"/>
          </a:solidFill>
          <a:ln w="12700">
            <a:solidFill>
              <a:srgbClr val="D5DDE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903720" y="3730752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Kararım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903720" y="4041648"/>
            <a:ext cx="4343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Bağlam bütçesi 1600 karakter. Ama top_k = 5 kaldı, çünkü ölçtüğüm metrik recall@5. Yani sistem geniş getiriyor, dar besliyor.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685800" y="5943600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5 soru üzerinde ölçüldü. Etkinin yönü tutarlı ama 1600 rakamının kendisi gürültülü.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842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8580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Bulgular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85800" y="502920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Bulgu 5: En hızlı model, en güvensiz model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691640"/>
          <a:ext cx="10789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463040"/>
                <a:gridCol w="1828800"/>
                <a:gridCol w="1371600"/>
                <a:gridCol w="1920240"/>
                <a:gridCol w="20116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Gecikme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Tekrar skoru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Uydurma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Reddediyor mu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qwen2.5-0.5b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660 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Hayır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Güvensiz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qwen2.5-1.5b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10,8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Hayır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Dejenere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phi-3.5-mini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B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B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B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Hayır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B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B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29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Varsayılan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BD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qwen2.5-7b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23,8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Hayır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9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Çevrimdışı işler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3520440"/>
            <a:ext cx="10789920" cy="1463040"/>
          </a:xfrm>
          <a:prstGeom prst="roundRect">
            <a:avLst>
              <a:gd name="adj" fmla="val 3750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60120" y="3685032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Metriğin göremediği şey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60120" y="4005072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B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0.5b modeli tekrar skorunda mükemmel: 0,000. Ama içeriği uyduruyor. Tekrar metriği dejenerasyonu yakalıyor, halüsinasyonu yakalamıyor. İki farklı bozulma biçimi var ve tek bir metrik ikisini birden göremiyor.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85800" y="5166360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phi-3.5-mini seçimi teknik değil, ürün kararı: qwen2.5-7b her kalite ölçütünde daha iyi ama 24 saniye interaktif bir demoda kullanılamaz. Gecikmenin önemsiz olduğu işlerde (değerlendirme seti üretimi) 7b kullanıyorum.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85800" y="5943600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M2 / WebGPU üzerinde, grounded Türkçe soru-cevap ile ölçüldü.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842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8580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Bulgular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85800" y="502920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Bulgu 6: Doğal aday sinyal yanlış çıktı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" y="11887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cevabı bilmediğinde susmalı. Bunun için bir skor ve bir eşik lazım.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85800" y="1783080"/>
          <a:ext cx="548640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685800" y="4480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Cevaplanabilir ve cevaplanamaz soruları ayırma gücü (AUC)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6537960" y="17830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Füzyon skoru neden kaybediyor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537960" y="21945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Ağırlıklı füzyon, her kolu o sorgu için getirilen adaylar içinde normalize ediyor. En iyi aday, iyi olduğu için değil en iyi olduğu için 1,0 alıyor.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537960" y="3200400"/>
            <a:ext cx="4937760" cy="1371600"/>
          </a:xfrm>
          <a:prstGeom prst="roundRect">
            <a:avLst>
              <a:gd name="adj" fmla="val 4000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766560" y="3401568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Kanıt: cevaplanamaz bir soru bu skorda tam 1,000 aldı. "Hiçbir şey bulamadım" diyemeyen bir sayı, bir şey bulunup bulunmadığına karar veremez.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85800" y="50292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Kararım: sinyali ham BM25 skoruna çevirdim, eşiği 6,866 olarak kalibre ettim. Bu, cevaplanabilir soruların %90'ını hâlâ cevaplayan en katı eşik. F1 yerine duyarlılığı hedefledim: gereksiz ret kullanıcıyı kızdırır, uydurulmuş bir madde birinin eğitim hayatını etkiler.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685800" y="5943600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cevaplanabilir / 52 cevaplanamaz soru üzerinde kalibre edildi. AUC 0,843 kusursuz değil: negatiflerin %38'ini kaçırıyor.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842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8580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Bulgular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85800" y="502920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Bulgu 7: Yeniden sıralamayı yaptım, ölçtüm, kapattım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" y="11887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Listwise LLM yeniden sıralama literatürün standart iyileştirmesi. Bu sistemde zararlı çıktı.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1828800"/>
            <a:ext cx="3429000" cy="1508760"/>
          </a:xfrm>
          <a:prstGeom prst="roundRect">
            <a:avLst>
              <a:gd name="adj" fmla="val 3636"/>
            </a:avLst>
          </a:prstGeom>
          <a:solidFill>
            <a:srgbClr val="F1F4F7"/>
          </a:solidFill>
          <a:ln w="12700">
            <a:solidFill>
              <a:srgbClr val="D5DD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993392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−0,308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914400" y="246888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Üretilmiş sorularda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14400" y="2761488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0,0001 · d = −0,73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43400" y="1828800"/>
            <a:ext cx="3429000" cy="1508760"/>
          </a:xfrm>
          <a:prstGeom prst="roundRect">
            <a:avLst>
              <a:gd name="adj" fmla="val 3636"/>
            </a:avLst>
          </a:prstGeom>
          <a:solidFill>
            <a:srgbClr val="F1F4F7"/>
          </a:solidFill>
          <a:ln w="12700">
            <a:solidFill>
              <a:srgbClr val="D5DD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1993392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−0,217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572000" y="246888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Parafrazlanmış sorularda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0" y="2761488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0,0015 · d = −0,44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01000" y="1828800"/>
            <a:ext cx="3429000" cy="1508760"/>
          </a:xfrm>
          <a:prstGeom prst="roundRect">
            <a:avLst>
              <a:gd name="adj" fmla="val 3636"/>
            </a:avLst>
          </a:prstGeom>
          <a:solidFill>
            <a:srgbClr val="A33A31"/>
          </a:solidFill>
          <a:ln w="12700">
            <a:solidFill>
              <a:srgbClr val="A33A3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0" y="1993392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 sn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229600" y="246888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Sorgu başına ek maliyet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229600" y="2761488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F0D5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Erişim tek başına 0,2 saniyeydi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85800" y="3611880"/>
            <a:ext cx="10789920" cy="1783080"/>
          </a:xfrm>
          <a:prstGeom prst="roundRect">
            <a:avLst>
              <a:gd name="adj" fmla="val 307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" y="379476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Nedeni zaten ölçmüştüm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60120" y="411480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B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Yeniden sıralayıcı modele 12 pasajı birden veriyor, yaklaşık 4800 karakter. Bağlam bütçesi deneyim (Bulgu 4) tam bu bölgede talimat takibinin çöktüğünü göstermişti: 4000 karakterde model üç denemede sıfır kez doğru reddetmişti.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960120" y="4956048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i="1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bağımsız deney aynı sınırı gösteriyor. Bu, ikisini de güçlendiriyor.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85800" y="55778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Özelliği silmedim, kapalı bıraktım: daha büyük bir modelle yeniden ölçülebilsin diye kod duruyor.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842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8580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85800" y="502920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Canlı demo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" y="11887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Dikkatinizi çekmek istediğim şey cevabın kendisi değil, cevabın neden o pasajlardan geldiği.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178308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" y="1783080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"burs başvurusu için gereken not ortalaması nedir"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43000" y="2112264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çalışma. Cevap akarken sağdaki aşamalar paneli görünüyor: 30 yoğun aday, 30 BM25 adayı, füzyondan sonra 43, her aşamanın milisaniyesi.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452360" y="1801368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Bakılacak yer: getirilen pasajlar tablosu. Her satırda o pasajın yoğun aramada ve BM25'te kaçıncı sırada olduğu yazıyor. Bir kolun bulup diğerinin kaçırdığı satır varsa, hibrit mimarinin faydası tam olarak orası.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85800" y="32004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43000" y="3200400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"yemekhanede bugün ne var"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43000" y="3529584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Cevabı korpusta olmayan bir soru. Sistemin uydurmaması gerekiyor.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452360" y="3218688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Bakılacak yer: çekimserlik kararı, ekranda eşitsizlik olarak duruyor. Skor 4,54 ve eşik 6,87 olduğu için model hiç çağrılmadan reddediliyor.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85800" y="461772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43000" y="4617720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"kayıt dondurma nasıl yapılır"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43000" y="4946904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Sunumun başındaki hikâyenin sorusu. Bu ifade korpusta hiç geçmiyor.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452360" y="4636008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çözdüğüm değil, ölçtüğüm bir problem. Sorgu genişletme sıradaki iş.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85800" y="5943600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Hazırlık: sunumdan önce bir soru sorup modeli ısıtın. İlk sorgu modeli belleğe yüklerken 1,5–2 dakika sürüyor.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842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F85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8580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85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Sınırlar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85800" y="502920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Neyi ölçemedim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" y="11887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Hepsini ölçtüm ya da fark ettim, hiçbirini gizlemedim.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1874520"/>
            <a:ext cx="5257800" cy="1536192"/>
          </a:xfrm>
          <a:prstGeom prst="roundRect">
            <a:avLst>
              <a:gd name="adj" fmla="val 3571"/>
            </a:avLst>
          </a:prstGeom>
          <a:solidFill>
            <a:srgbClr val="1F3E5A"/>
          </a:solidFill>
          <a:ln w="12700">
            <a:solidFill>
              <a:srgbClr val="1F3E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41832" y="203911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Değerlendirme setini modelin kendisi üretti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41832" y="237744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9C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Parafraz katmanı bunu hafifletiyor ama çözmüyor. 60 parafrazın 11'i orijinaliyle 0,80'in altında anlamsal benzerlik gösteriyor, yani ölçtüğüm kelime farkı bir üst sınır.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17920" y="1874520"/>
            <a:ext cx="5257800" cy="1536192"/>
          </a:xfrm>
          <a:prstGeom prst="roundRect">
            <a:avLst>
              <a:gd name="adj" fmla="val 3571"/>
            </a:avLst>
          </a:prstGeom>
          <a:solidFill>
            <a:srgbClr val="1F3E5A"/>
          </a:solidFill>
          <a:ln w="12700">
            <a:solidFill>
              <a:srgbClr val="1F3E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73952" y="203911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Küçük etkiler için örneklem yetersiz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73952" y="237744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9C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60 orta büyüklükteki etkiler için yeterli. Küçük bir etkiyi (d = 0,2) görmek için 197 soru gerekirdi.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85800" y="3611880"/>
            <a:ext cx="5257800" cy="1536192"/>
          </a:xfrm>
          <a:prstGeom prst="roundRect">
            <a:avLst>
              <a:gd name="adj" fmla="val 3571"/>
            </a:avLst>
          </a:prstGeom>
          <a:solidFill>
            <a:srgbClr val="1F3E5A"/>
          </a:solidFill>
          <a:ln w="12700">
            <a:solidFill>
              <a:srgbClr val="1F3E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41832" y="37764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Korpus tek kurumdan geliyor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41832" y="411480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9C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Bulgularımın hepsi Türkçe yönetmelik metnine özgü olabilir. Dokuz belgeden biri İngilizce ama İngilizce bir değerlendirme seti kurmadım, yani dil karşılaştırması yapamıyorum.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17920" y="3611880"/>
            <a:ext cx="5257800" cy="1536192"/>
          </a:xfrm>
          <a:prstGeom prst="roundRect">
            <a:avLst>
              <a:gd name="adj" fmla="val 3571"/>
            </a:avLst>
          </a:prstGeom>
          <a:solidFill>
            <a:srgbClr val="1F3E5A"/>
          </a:solidFill>
          <a:ln w="12700">
            <a:solidFill>
              <a:srgbClr val="1F3E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73952" y="37764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Çekimserlik eşiği kusurlu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73952" y="411480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9C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0,843, yani cevaplanamaz soruların %38'ini kaçırıyor. 52 negatif örnek az ve BM25 skoru sorgu uzunluğuna duyarlı; bu karıştırıcıyı kontrol etmedim.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842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8580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Sonuç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85800" y="502920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 öğrendim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" y="1463040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Bağlam eklemek cevabı bozdu. 4000 karakterde model bilmediğini söylemeyi tamamen bıraktı.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hızlı model en güvensiz olandı ve kullandığım metrik bunu göremiyordu.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Literatürün önerdiği RRF, düzeltmeden sonra ayakta kalamadı; ağırlıklı füzyon kaldı.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Standart bir iyileştirme olan yeniden sıralama sistemi bozdu, kapalı bıraktım.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İlk benchmark'ım geçersizdi. Onu çöpe atmak projenin en değerli kararı oldu.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5800" y="4069080"/>
            <a:ext cx="6949440" cy="1234440"/>
          </a:xfrm>
          <a:prstGeom prst="roundRect">
            <a:avLst>
              <a:gd name="adj" fmla="val 4444"/>
            </a:avLst>
          </a:prstGeom>
          <a:solidFill>
            <a:srgbClr val="F1F4F7"/>
          </a:solidFill>
          <a:ln w="12700">
            <a:solidFill>
              <a:srgbClr val="D5DD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4279392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Projenin asıl çıktısı bu sistem değil, bu sistemi ölçebilen araç takımı. "Sorgu genişletme işe yarıyor mu?" sorusu artık bir tahmin değil, bir koşu.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001000" y="14630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Sırada ne var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001000" y="187452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Sorgu genişletme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 boyutunun taranması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Dayanaklılık yargıcı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sunucusu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001000" y="35661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98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915400" y="362102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otomatik test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01000" y="4133088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98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915400" y="418795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 dokümanı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001000" y="4700016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98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915400" y="47548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8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sorusu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377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Teşekkürler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85800" y="32461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Sorularınızı bekliyorum.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85800" y="3977640"/>
            <a:ext cx="2926080" cy="0"/>
          </a:xfrm>
          <a:prstGeom prst="line">
            <a:avLst/>
          </a:prstGeom>
          <a:noFill/>
          <a:ln w="25400">
            <a:solidFill>
              <a:srgbClr val="1F3E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4251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Furkan Ahi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45902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furkan.ahi@std.bogazici.edu.tr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" y="502920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Kod, ölçüm çıktıları ve teori dokümanları: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github.com/Furkanahii/foundry-rag-lab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Foundry Local ile Yerel RAG Laboratuvarı</dc:title>
  <dc:subject>Microsoft Yapay Zekâ Stajı — Proje Sunumu</dc:subject>
  <dc:creator>Furkan Ahi</dc:creator>
  <cp:lastModifiedBy>Furkan Ahi</cp:lastModifiedBy>
  <cp:revision>1</cp:revision>
  <dcterms:created xsi:type="dcterms:W3CDTF">2026-08-17T22:30:28Z</dcterms:created>
  <dcterms:modified xsi:type="dcterms:W3CDTF">2026-08-17T22:30:28Z</dcterms:modified>
</cp:coreProperties>
</file>